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7569200" cy="10693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445" y="-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256030"/>
            <a:ext cx="5527040" cy="292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300" b="1" u="sng" spc="72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Roboto"/>
              </a:rPr>
              <a:t>Assessment Tool 1 – Coding Challenge</a:t>
            </a:r>
            <a:r>
              <a:rPr sz="2300" b="1" spc="49">
                <a:solidFill>
                  <a:srgbClr val="000000"/>
                </a:solidFill>
                <a:latin typeface="Roboto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61820"/>
            <a:ext cx="3009900" cy="2159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700" b="1" spc="53">
                <a:solidFill>
                  <a:srgbClr val="000000"/>
                </a:solidFill>
                <a:latin typeface="Roboto"/>
              </a:rPr>
              <a:t>Computer Networks (CSA07)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73422"/>
            <a:ext cx="1936556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spc="38" dirty="0">
                <a:solidFill>
                  <a:srgbClr val="000000"/>
                </a:solidFill>
                <a:latin typeface="Roboto"/>
              </a:rPr>
              <a:t>Student Name:</a:t>
            </a:r>
            <a:r>
              <a:rPr sz="1100" spc="2" dirty="0">
                <a:solidFill>
                  <a:srgbClr val="000000"/>
                </a:solidFill>
                <a:latin typeface="Roboto"/>
              </a:rPr>
              <a:t> </a:t>
            </a:r>
            <a:r>
              <a:rPr lang="en-IN" sz="1100" spc="2" dirty="0">
                <a:solidFill>
                  <a:srgbClr val="000000"/>
                </a:solidFill>
                <a:latin typeface="Roboto"/>
              </a:rPr>
              <a:t>K </a:t>
            </a:r>
            <a:r>
              <a:rPr lang="en-IN" sz="1100" spc="2" dirty="0" err="1">
                <a:solidFill>
                  <a:srgbClr val="000000"/>
                </a:solidFill>
                <a:latin typeface="Roboto"/>
              </a:rPr>
              <a:t>Abinayasri</a:t>
            </a:r>
            <a:r>
              <a:rPr sz="1100" spc="2" dirty="0">
                <a:solidFill>
                  <a:srgbClr val="000000"/>
                </a:solidFill>
                <a:latin typeface="Roboto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57572"/>
            <a:ext cx="1406219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spc="54" dirty="0">
                <a:solidFill>
                  <a:srgbClr val="000000"/>
                </a:solidFill>
                <a:latin typeface="Roboto"/>
              </a:rPr>
              <a:t>Reg No:</a:t>
            </a:r>
            <a:r>
              <a:rPr sz="1100" spc="0" dirty="0">
                <a:solidFill>
                  <a:srgbClr val="000000"/>
                </a:solidFill>
                <a:latin typeface="Roboto"/>
              </a:rPr>
              <a:t> 19</a:t>
            </a:r>
            <a:r>
              <a:rPr lang="en-IN" sz="1100" spc="0" dirty="0">
                <a:solidFill>
                  <a:srgbClr val="000000"/>
                </a:solidFill>
                <a:latin typeface="Roboto"/>
              </a:rPr>
              <a:t>21260133</a:t>
            </a:r>
            <a:r>
              <a:rPr sz="1100" spc="0" dirty="0">
                <a:solidFill>
                  <a:srgbClr val="000000"/>
                </a:solidFill>
                <a:latin typeface="Roboto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57780"/>
            <a:ext cx="1559560" cy="1397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100" b="1" spc="46" dirty="0">
                <a:solidFill>
                  <a:srgbClr val="000000"/>
                </a:solidFill>
                <a:latin typeface="Roboto"/>
              </a:rPr>
              <a:t>Course code</a:t>
            </a:r>
            <a:r>
              <a:rPr sz="1100" spc="24" dirty="0">
                <a:solidFill>
                  <a:srgbClr val="000000"/>
                </a:solidFill>
                <a:latin typeface="Roboto"/>
              </a:rPr>
              <a:t>: CSA0704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51200"/>
            <a:ext cx="4333240" cy="2921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2300" b="1" spc="96" dirty="0">
                <a:solidFill>
                  <a:srgbClr val="000000"/>
                </a:solidFill>
                <a:latin typeface="Roboto"/>
              </a:rPr>
              <a:t>Challenge Set 1: UDP Analysis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56990"/>
            <a:ext cx="2590800" cy="2159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700" b="1" spc="67">
                <a:solidFill>
                  <a:srgbClr val="000000"/>
                </a:solidFill>
                <a:latin typeface="Roboto"/>
              </a:rPr>
              <a:t>Question 1: DNS Sample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84650"/>
            <a:ext cx="19773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9">
                <a:solidFill>
                  <a:srgbClr val="000000"/>
                </a:solidFill>
                <a:latin typeface="Roboto"/>
              </a:rPr>
              <a:t>Samples to use: DNS + NTP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6580"/>
            <a:ext cx="177927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8">
                <a:solidFill>
                  <a:srgbClr val="000000"/>
                </a:solidFill>
                <a:latin typeface="Roboto"/>
              </a:rPr>
              <a:t>1. Open the DNS sample.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87240"/>
            <a:ext cx="17957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3">
                <a:solidFill>
                  <a:srgbClr val="000000"/>
                </a:solidFill>
                <a:latin typeface="Roboto"/>
              </a:rPr>
              <a:t>o Locate the UDP header.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89170"/>
            <a:ext cx="349631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3">
                <a:solidFill>
                  <a:srgbClr val="000000"/>
                </a:solidFill>
                <a:latin typeface="Roboto"/>
              </a:rPr>
              <a:t>o Write down the Source Port and Destination Port.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91100"/>
            <a:ext cx="51587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">
                <a:solidFill>
                  <a:srgbClr val="000000"/>
                </a:solidFill>
                <a:latin typeface="Roboto"/>
              </a:rPr>
              <a:t>o What is the Destination Port number and which well-known service does it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93030"/>
            <a:ext cx="7708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2">
                <a:solidFill>
                  <a:srgbClr val="000000"/>
                </a:solidFill>
                <a:latin typeface="Roboto"/>
              </a:rPr>
              <a:t>represent? 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47419" y="5614670"/>
          <a:ext cx="6219189" cy="39890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19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89070">
                <a:tc>
                  <a:txBody>
                    <a:bodyPr/>
                    <a:lstStyle/>
                    <a:p>
                      <a:pPr>
                        <a:lnSpc>
                          <a:spcPts val="31285"/>
                        </a:lnSpc>
                      </a:pPr>
                      <a:endParaRPr/>
                    </a:p>
                  </a:txBody>
                  <a:tcPr marL="0" marR="0" marT="0" marB="0">
                    <a:lnL w="142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42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42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42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50" y="5619750"/>
            <a:ext cx="6197600" cy="398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3450"/>
            <a:ext cx="67691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u="sng" spc="77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Roboto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7780"/>
            <a:ext cx="142367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53">
                <a:solidFill>
                  <a:srgbClr val="000000"/>
                </a:solidFill>
                <a:latin typeface="Roboto"/>
              </a:rPr>
              <a:t>Source Port:</a:t>
            </a:r>
            <a:r>
              <a:rPr sz="1200" spc="6">
                <a:solidFill>
                  <a:srgbClr val="000000"/>
                </a:solidFill>
                <a:latin typeface="Roboto"/>
              </a:rPr>
              <a:t> 59198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2110"/>
            <a:ext cx="14820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5">
                <a:solidFill>
                  <a:srgbClr val="000000"/>
                </a:solidFill>
                <a:latin typeface="Roboto"/>
              </a:rPr>
              <a:t>Destination Port:</a:t>
            </a:r>
            <a:r>
              <a:rPr sz="1200" spc="13">
                <a:solidFill>
                  <a:srgbClr val="000000"/>
                </a:solidFill>
                <a:latin typeface="Roboto"/>
              </a:rPr>
              <a:t> 53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5170"/>
            <a:ext cx="357886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57">
                <a:solidFill>
                  <a:srgbClr val="000000"/>
                </a:solidFill>
                <a:latin typeface="Roboto"/>
              </a:rPr>
              <a:t>Well-Known Service:</a:t>
            </a:r>
            <a:r>
              <a:rPr sz="1200" spc="13">
                <a:solidFill>
                  <a:srgbClr val="000000"/>
                </a:solidFill>
                <a:latin typeface="Roboto"/>
              </a:rPr>
              <a:t> DNS (Domain Name System)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49500"/>
            <a:ext cx="451485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55">
                <a:solidFill>
                  <a:srgbClr val="000000"/>
                </a:solidFill>
                <a:latin typeface="Roboto"/>
              </a:rPr>
              <a:t>Explanation:</a:t>
            </a:r>
            <a:r>
              <a:rPr sz="1200" spc="3">
                <a:solidFill>
                  <a:srgbClr val="000000"/>
                </a:solidFill>
                <a:latin typeface="Roboto"/>
              </a:rPr>
              <a:t> Port 53 is used by DNS for domain name resolution.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03830"/>
            <a:ext cx="19138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38">
                <a:solidFill>
                  <a:srgbClr val="000000"/>
                </a:solidFill>
                <a:latin typeface="Roboto"/>
              </a:rPr>
              <a:t>2. Still in the DNS sample</a:t>
            </a:r>
            <a:r>
              <a:rPr sz="1200" spc="40">
                <a:solidFill>
                  <a:srgbClr val="000000"/>
                </a:solidFill>
                <a:latin typeface="Roboto"/>
              </a:rPr>
              <a:t>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04490"/>
            <a:ext cx="309245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9">
                <a:solidFill>
                  <a:srgbClr val="000000"/>
                </a:solidFill>
                <a:latin typeface="Roboto"/>
              </a:rPr>
              <a:t>o Find the UDP Length and Checksum fields.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6420"/>
            <a:ext cx="570992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5">
                <a:solidFill>
                  <a:srgbClr val="000000"/>
                </a:solidFill>
                <a:latin typeface="Roboto"/>
              </a:rPr>
              <a:t>o Does this packet have any sequence number or acknowledgement number? What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08350"/>
            <a:ext cx="8890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6">
                <a:solidFill>
                  <a:srgbClr val="000000"/>
                </a:solidFill>
                <a:latin typeface="Roboto"/>
              </a:rPr>
              <a:t>does this tell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09010"/>
            <a:ext cx="11607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25">
                <a:solidFill>
                  <a:srgbClr val="000000"/>
                </a:solidFill>
                <a:latin typeface="Roboto"/>
              </a:rPr>
              <a:t>you about UDP?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8474710"/>
            <a:ext cx="15836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62">
                <a:solidFill>
                  <a:srgbClr val="000000"/>
                </a:solidFill>
                <a:latin typeface="Roboto"/>
              </a:rPr>
              <a:t>UDP Length:</a:t>
            </a:r>
            <a:r>
              <a:rPr sz="1200" spc="6">
                <a:solidFill>
                  <a:srgbClr val="000000"/>
                </a:solidFill>
                <a:latin typeface="Roboto"/>
              </a:rPr>
              <a:t> 54 bytes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8829040"/>
            <a:ext cx="17614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59">
                <a:solidFill>
                  <a:srgbClr val="000000"/>
                </a:solidFill>
                <a:latin typeface="Roboto"/>
              </a:rPr>
              <a:t>UDP Checksum:</a:t>
            </a:r>
            <a:r>
              <a:rPr sz="1200" spc="1">
                <a:solidFill>
                  <a:srgbClr val="000000"/>
                </a:solidFill>
                <a:latin typeface="Roboto"/>
              </a:rPr>
              <a:t> 0x37cb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9183370"/>
            <a:ext cx="342137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54">
                <a:solidFill>
                  <a:srgbClr val="000000"/>
                </a:solidFill>
                <a:latin typeface="Roboto"/>
              </a:rPr>
              <a:t>Does this packet have any Sequence Number?​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9384030"/>
            <a:ext cx="32130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5">
                <a:solidFill>
                  <a:srgbClr val="000000"/>
                </a:solidFill>
                <a:latin typeface="Roboto"/>
              </a:rPr>
              <a:t> No.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3708400"/>
            <a:ext cx="5994400" cy="4540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3450"/>
            <a:ext cx="404876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52">
                <a:solidFill>
                  <a:srgbClr val="000000"/>
                </a:solidFill>
                <a:latin typeface="Roboto"/>
              </a:rPr>
              <a:t>Does this packet have any Acknowledgement Number?​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35380"/>
            <a:ext cx="32130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5">
                <a:solidFill>
                  <a:srgbClr val="000000"/>
                </a:solidFill>
                <a:latin typeface="Roboto"/>
              </a:rPr>
              <a:t> No.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89710"/>
            <a:ext cx="26162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8">
                <a:solidFill>
                  <a:srgbClr val="000000"/>
                </a:solidFill>
                <a:latin typeface="Roboto"/>
              </a:rPr>
              <a:t>What does this tell you about UDP?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42770"/>
            <a:ext cx="64389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96">
                <a:solidFill>
                  <a:srgbClr val="000000"/>
                </a:solidFill>
                <a:latin typeface="Roboto"/>
              </a:rPr>
              <a:t>Answer:​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44700"/>
            <a:ext cx="509016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32">
                <a:solidFill>
                  <a:srgbClr val="000000"/>
                </a:solidFill>
                <a:latin typeface="Roboto"/>
              </a:rPr>
              <a:t> UDP is a </a:t>
            </a:r>
            <a:r>
              <a:rPr sz="1200" b="1" spc="44">
                <a:solidFill>
                  <a:srgbClr val="000000"/>
                </a:solidFill>
                <a:latin typeface="Roboto"/>
              </a:rPr>
              <a:t>connectionless protocol</a:t>
            </a:r>
            <a:r>
              <a:rPr sz="1200" spc="4">
                <a:solidFill>
                  <a:srgbClr val="000000"/>
                </a:solidFill>
                <a:latin typeface="Roboto"/>
              </a:rPr>
              <a:t>. It does not use sequence numbers or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6630"/>
            <a:ext cx="483362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2">
                <a:solidFill>
                  <a:srgbClr val="000000"/>
                </a:solidFill>
                <a:latin typeface="Roboto"/>
              </a:rPr>
              <a:t>acknowledgement numbers, making it faster but less reliable than TCP.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99690"/>
            <a:ext cx="17868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36">
                <a:solidFill>
                  <a:srgbClr val="000000"/>
                </a:solidFill>
                <a:latin typeface="Roboto"/>
              </a:rPr>
              <a:t>3. Open the NTP sample.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54020"/>
            <a:ext cx="337947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1">
                <a:solidFill>
                  <a:srgbClr val="000000"/>
                </a:solidFill>
                <a:latin typeface="Roboto"/>
              </a:rPr>
              <a:t>o Compare its UDP header with the DNS sample.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08350"/>
            <a:ext cx="264287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6">
                <a:solidFill>
                  <a:srgbClr val="000000"/>
                </a:solidFill>
                <a:latin typeface="Roboto"/>
              </a:rPr>
              <a:t>o Are the header fields the same size?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61410"/>
            <a:ext cx="316737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5">
                <a:solidFill>
                  <a:srgbClr val="000000"/>
                </a:solidFill>
                <a:latin typeface="Roboto"/>
              </a:rPr>
              <a:t>o Why is UDP suitable for both DNS and NTP?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4013200"/>
            <a:ext cx="5441950" cy="558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3450"/>
            <a:ext cx="67691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u="sng" spc="77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Roboto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7780"/>
            <a:ext cx="12534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53">
                <a:solidFill>
                  <a:srgbClr val="000000"/>
                </a:solidFill>
                <a:latin typeface="Roboto"/>
              </a:rPr>
              <a:t>Source Port:</a:t>
            </a:r>
            <a:r>
              <a:rPr sz="1200" spc="10">
                <a:solidFill>
                  <a:srgbClr val="000000"/>
                </a:solidFill>
                <a:latin typeface="Roboto"/>
              </a:rPr>
              <a:t> 123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2110"/>
            <a:ext cx="15671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5">
                <a:solidFill>
                  <a:srgbClr val="000000"/>
                </a:solidFill>
                <a:latin typeface="Roboto"/>
              </a:rPr>
              <a:t>Destination Port:</a:t>
            </a:r>
            <a:r>
              <a:rPr sz="1200" spc="10">
                <a:solidFill>
                  <a:srgbClr val="000000"/>
                </a:solidFill>
                <a:latin typeface="Roboto"/>
              </a:rPr>
              <a:t> 123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5170"/>
            <a:ext cx="12192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62">
                <a:solidFill>
                  <a:srgbClr val="000000"/>
                </a:solidFill>
                <a:latin typeface="Roboto"/>
              </a:rPr>
              <a:t>Length:</a:t>
            </a:r>
            <a:r>
              <a:rPr sz="1200" spc="6">
                <a:solidFill>
                  <a:srgbClr val="000000"/>
                </a:solidFill>
                <a:latin typeface="Roboto"/>
              </a:rPr>
              <a:t> 56 bytes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49500"/>
            <a:ext cx="14058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59">
                <a:solidFill>
                  <a:srgbClr val="000000"/>
                </a:solidFill>
                <a:latin typeface="Roboto"/>
              </a:rPr>
              <a:t>Checksum:</a:t>
            </a:r>
            <a:r>
              <a:rPr sz="1200" spc="9">
                <a:solidFill>
                  <a:srgbClr val="000000"/>
                </a:solidFill>
                <a:latin typeface="Roboto"/>
              </a:rPr>
              <a:t> 0x70e1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03830"/>
            <a:ext cx="343027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50">
                <a:solidFill>
                  <a:srgbClr val="000000"/>
                </a:solidFill>
                <a:latin typeface="Roboto"/>
              </a:rPr>
              <a:t>Compare its UDP header with the DNS sample:​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04490"/>
            <a:ext cx="540385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4">
                <a:solidFill>
                  <a:srgbClr val="000000"/>
                </a:solidFill>
                <a:latin typeface="Roboto"/>
              </a:rPr>
              <a:t> Both DNS and NTP use the UDP protocol. They contain the same UDP header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6420"/>
            <a:ext cx="46761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6">
                <a:solidFill>
                  <a:srgbClr val="000000"/>
                </a:solidFill>
                <a:latin typeface="Roboto"/>
              </a:rPr>
              <a:t>fields such as Source Port, Destination Port, Length, and Checksum.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60750"/>
            <a:ext cx="267589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8">
                <a:solidFill>
                  <a:srgbClr val="000000"/>
                </a:solidFill>
                <a:latin typeface="Roboto"/>
              </a:rPr>
              <a:t>Are the header fields the same size?​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61410"/>
            <a:ext cx="40919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3">
                <a:solidFill>
                  <a:srgbClr val="000000"/>
                </a:solidFill>
                <a:latin typeface="Roboto"/>
              </a:rPr>
              <a:t> Yes. The UDP header size is 8 bytes in both DNS and NTP.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15740"/>
            <a:ext cx="32512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54">
                <a:solidFill>
                  <a:srgbClr val="000000"/>
                </a:solidFill>
                <a:latin typeface="Roboto"/>
              </a:rPr>
              <a:t>Why is UDP suitable for both DNS and NTP?​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17670"/>
            <a:ext cx="565785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7">
                <a:solidFill>
                  <a:srgbClr val="000000"/>
                </a:solidFill>
                <a:latin typeface="Roboto"/>
              </a:rPr>
              <a:t> UDP is fast and has low overhead. DNS and NTP require quick communication, so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19600"/>
            <a:ext cx="234696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2">
                <a:solidFill>
                  <a:srgbClr val="000000"/>
                </a:solidFill>
                <a:latin typeface="Roboto"/>
              </a:rPr>
              <a:t>UDP is suitable for both protocols.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77740"/>
            <a:ext cx="2805429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500" b="1" u="sng" spc="61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Roboto"/>
              </a:rPr>
              <a:t>Challenge Set 2: TCP Analysis</a:t>
            </a:r>
            <a:r>
              <a:rPr sz="1500" b="1" spc="17">
                <a:solidFill>
                  <a:srgbClr val="000000"/>
                </a:solidFill>
                <a:latin typeface="Robot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77790"/>
            <a:ext cx="22402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6">
                <a:solidFill>
                  <a:srgbClr val="000000"/>
                </a:solidFill>
                <a:latin typeface="Roboto"/>
              </a:rPr>
              <a:t>Samples to use: FTP + MySQL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30850"/>
            <a:ext cx="18122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39">
                <a:solidFill>
                  <a:srgbClr val="000000"/>
                </a:solidFill>
                <a:latin typeface="Roboto"/>
              </a:rPr>
              <a:t>4. Open the FTP sample</a:t>
            </a:r>
            <a:r>
              <a:rPr sz="1200" spc="27">
                <a:solidFill>
                  <a:srgbClr val="000000"/>
                </a:solidFill>
                <a:latin typeface="Roboto"/>
              </a:rPr>
              <a:t>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85180"/>
            <a:ext cx="183896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7">
                <a:solidFill>
                  <a:srgbClr val="000000"/>
                </a:solidFill>
                <a:latin typeface="Roboto"/>
              </a:rPr>
              <a:t>o Expand the TCP header.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239510"/>
            <a:ext cx="287147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7">
                <a:solidFill>
                  <a:srgbClr val="000000"/>
                </a:solidFill>
                <a:latin typeface="Roboto"/>
              </a:rPr>
              <a:t>o List the following fields with their values: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592570"/>
            <a:ext cx="8470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8">
                <a:solidFill>
                  <a:srgbClr val="000000"/>
                </a:solidFill>
                <a:latin typeface="Roboto"/>
              </a:rPr>
              <a:t>Source Port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946900"/>
            <a:ext cx="11264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3">
                <a:solidFill>
                  <a:srgbClr val="000000"/>
                </a:solidFill>
                <a:latin typeface="Roboto"/>
              </a:rPr>
              <a:t>Destination Port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7301230"/>
            <a:ext cx="13131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2">
                <a:solidFill>
                  <a:srgbClr val="000000"/>
                </a:solidFill>
                <a:latin typeface="Roboto"/>
              </a:rPr>
              <a:t>Sequence Number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7654290"/>
            <a:ext cx="18719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3">
                <a:solidFill>
                  <a:srgbClr val="000000"/>
                </a:solidFill>
                <a:latin typeface="Roboto"/>
              </a:rPr>
              <a:t>Acknowledgement Number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8008620"/>
            <a:ext cx="190627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2">
                <a:solidFill>
                  <a:srgbClr val="000000"/>
                </a:solidFill>
                <a:latin typeface="Roboto"/>
              </a:rPr>
              <a:t>Flags (which flags are set?)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33450"/>
            <a:ext cx="6565900" cy="528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6445250"/>
            <a:ext cx="565785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3450"/>
            <a:ext cx="67691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u="sng" spc="77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Roboto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37310"/>
            <a:ext cx="10502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2">
                <a:solidFill>
                  <a:srgbClr val="000000"/>
                </a:solidFill>
                <a:latin typeface="Roboto"/>
              </a:rPr>
              <a:t>Protocol</a:t>
            </a:r>
            <a:r>
              <a:rPr sz="1200" spc="43">
                <a:solidFill>
                  <a:srgbClr val="000000"/>
                </a:solidFill>
                <a:latin typeface="Roboto"/>
              </a:rPr>
              <a:t>: TCP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37970"/>
            <a:ext cx="11607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8">
                <a:solidFill>
                  <a:srgbClr val="000000"/>
                </a:solidFill>
                <a:latin typeface="Roboto"/>
              </a:rPr>
              <a:t>Source Port</a:t>
            </a:r>
            <a:r>
              <a:rPr sz="1200" spc="21">
                <a:solidFill>
                  <a:srgbClr val="000000"/>
                </a:solidFill>
                <a:latin typeface="Roboto"/>
              </a:rPr>
              <a:t>: 21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9900"/>
            <a:ext cx="17272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1">
                <a:solidFill>
                  <a:srgbClr val="000000"/>
                </a:solidFill>
                <a:latin typeface="Roboto"/>
              </a:rPr>
              <a:t>Destination Port</a:t>
            </a:r>
            <a:r>
              <a:rPr sz="1200" spc="8">
                <a:solidFill>
                  <a:srgbClr val="000000"/>
                </a:solidFill>
                <a:latin typeface="Roboto"/>
              </a:rPr>
              <a:t>: 62014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1830"/>
            <a:ext cx="348487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6">
                <a:solidFill>
                  <a:srgbClr val="000000"/>
                </a:solidFill>
                <a:latin typeface="Roboto"/>
              </a:rPr>
              <a:t>Sequence Number</a:t>
            </a:r>
            <a:r>
              <a:rPr sz="1200" spc="-9">
                <a:solidFill>
                  <a:srgbClr val="000000"/>
                </a:solidFill>
                <a:latin typeface="Roboto"/>
              </a:rPr>
              <a:t>: 0x836f4ffe (raw: 2105110270)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2490"/>
            <a:ext cx="408305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3">
                <a:solidFill>
                  <a:srgbClr val="000000"/>
                </a:solidFill>
                <a:latin typeface="Roboto"/>
              </a:rPr>
              <a:t>Acknowledgement Number</a:t>
            </a:r>
            <a:r>
              <a:rPr sz="1200" spc="3">
                <a:solidFill>
                  <a:srgbClr val="000000"/>
                </a:solidFill>
                <a:latin typeface="Roboto"/>
              </a:rPr>
              <a:t>: 0x04846eda (raw: 75787994)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44420"/>
            <a:ext cx="12369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5">
                <a:solidFill>
                  <a:srgbClr val="000000"/>
                </a:solidFill>
                <a:latin typeface="Roboto"/>
              </a:rPr>
              <a:t>Flags</a:t>
            </a:r>
            <a:r>
              <a:rPr sz="1200" spc="49">
                <a:solidFill>
                  <a:srgbClr val="000000"/>
                </a:solidFill>
                <a:latin typeface="Roboto"/>
              </a:rPr>
              <a:t>: PSH, ACK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6350"/>
            <a:ext cx="139573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5">
                <a:solidFill>
                  <a:srgbClr val="000000"/>
                </a:solidFill>
                <a:latin typeface="Roboto"/>
              </a:rPr>
              <a:t>Window Size</a:t>
            </a:r>
            <a:r>
              <a:rPr sz="1200" spc="12">
                <a:solidFill>
                  <a:srgbClr val="000000"/>
                </a:solidFill>
                <a:latin typeface="Roboto"/>
              </a:rPr>
              <a:t>: 1448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7010"/>
            <a:ext cx="211709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4">
                <a:solidFill>
                  <a:srgbClr val="000000"/>
                </a:solidFill>
                <a:latin typeface="Roboto"/>
              </a:rPr>
              <a:t>TCP Header Length</a:t>
            </a:r>
            <a:r>
              <a:rPr sz="1200" spc="10">
                <a:solidFill>
                  <a:srgbClr val="000000"/>
                </a:solidFill>
                <a:latin typeface="Roboto"/>
              </a:rPr>
              <a:t>: 32 bytes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48940"/>
            <a:ext cx="560832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53">
                <a:solidFill>
                  <a:srgbClr val="000000"/>
                </a:solidFill>
                <a:latin typeface="Roboto"/>
              </a:rPr>
              <a:t>Answer</a:t>
            </a:r>
            <a:r>
              <a:rPr sz="1200" spc="6">
                <a:solidFill>
                  <a:srgbClr val="000000"/>
                </a:solidFill>
                <a:latin typeface="Roboto"/>
              </a:rPr>
              <a:t>: TCP header has sequence number, acknowledgement number, flags and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0870"/>
            <a:ext cx="48539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7">
                <a:solidFill>
                  <a:srgbClr val="000000"/>
                </a:solidFill>
                <a:latin typeface="Roboto"/>
              </a:rPr>
              <a:t>window size, which support reliable and flow-controlled communication.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53460"/>
            <a:ext cx="19989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35">
                <a:solidFill>
                  <a:srgbClr val="000000"/>
                </a:solidFill>
                <a:latin typeface="Roboto"/>
              </a:rPr>
              <a:t>5. In the same FTP sample: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55390"/>
            <a:ext cx="418465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2">
                <a:solidFill>
                  <a:srgbClr val="000000"/>
                </a:solidFill>
                <a:latin typeface="Roboto"/>
              </a:rPr>
              <a:t>o What is the 4-tuple that uniquely identifies this TCP socket?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57979"/>
            <a:ext cx="34061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0">
                <a:solidFill>
                  <a:srgbClr val="000000"/>
                </a:solidFill>
                <a:latin typeface="Roboto"/>
              </a:rPr>
              <a:t>o Explain how this 4-tuple helps in demultiplexing.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356100"/>
            <a:ext cx="5753100" cy="529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011929"/>
            <a:ext cx="12700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2">
                <a:solidFill>
                  <a:srgbClr val="000000"/>
                </a:solidFill>
                <a:latin typeface="Roboto"/>
              </a:rPr>
              <a:t>From the packet: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13860"/>
            <a:ext cx="188087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9">
                <a:solidFill>
                  <a:srgbClr val="000000"/>
                </a:solidFill>
                <a:latin typeface="Roboto"/>
              </a:rPr>
              <a:t>Source: 192.168.1.231 : 21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14520"/>
            <a:ext cx="24155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3">
                <a:solidFill>
                  <a:srgbClr val="000000"/>
                </a:solidFill>
                <a:latin typeface="Roboto"/>
              </a:rPr>
              <a:t>Destination: 192.168.1.182 : 62014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16450"/>
            <a:ext cx="11861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0">
                <a:solidFill>
                  <a:srgbClr val="000000"/>
                </a:solidFill>
                <a:latin typeface="Roboto"/>
              </a:rPr>
              <a:t>So the 4-tuple is: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18380"/>
            <a:ext cx="294005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7">
                <a:solidFill>
                  <a:srgbClr val="000000"/>
                </a:solidFill>
                <a:latin typeface="Roboto"/>
              </a:rPr>
              <a:t>(192.168.1.231, 21, 192.168.1.182, 62014)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19040"/>
            <a:ext cx="540512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5">
                <a:solidFill>
                  <a:srgbClr val="000000"/>
                </a:solidFill>
                <a:latin typeface="Roboto"/>
              </a:rPr>
              <a:t>It uniquely identifies the TCP connection. It helps multiplexing/demultiplexing by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20970"/>
            <a:ext cx="549783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">
                <a:solidFill>
                  <a:srgbClr val="000000"/>
                </a:solidFill>
                <a:latin typeface="Roboto"/>
              </a:rPr>
              <a:t>allowing the OS to determine which application/socket should receive the packet.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20497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3">
                <a:solidFill>
                  <a:srgbClr val="000000"/>
                </a:solidFill>
                <a:latin typeface="Roboto"/>
              </a:rPr>
              <a:t>6. Open the MySQL sample.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25490"/>
            <a:ext cx="319277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5">
                <a:solidFill>
                  <a:srgbClr val="000000"/>
                </a:solidFill>
                <a:latin typeface="Roboto"/>
              </a:rPr>
              <a:t>o Compare its TCP ports with the FTP sample.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27420"/>
            <a:ext cx="338582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0">
                <a:solidFill>
                  <a:srgbClr val="000000"/>
                </a:solidFill>
                <a:latin typeface="Roboto"/>
              </a:rPr>
              <a:t>o Are the Destination Ports the same or different?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29350"/>
            <a:ext cx="530352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2">
                <a:solidFill>
                  <a:srgbClr val="000000"/>
                </a:solidFill>
                <a:latin typeface="Roboto"/>
              </a:rPr>
              <a:t>o How does the operating system know which application should receive each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430010"/>
            <a:ext cx="576580" cy="1523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0">
                <a:solidFill>
                  <a:srgbClr val="000000"/>
                </a:solidFill>
                <a:latin typeface="Roboto"/>
              </a:rPr>
              <a:t>packet?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631940"/>
            <a:ext cx="11430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">
                <a:solidFill>
                  <a:srgbClr val="000000"/>
                </a:solidFill>
                <a:latin typeface="Roboto"/>
              </a:rPr>
              <a:t>(Demultiplexing)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33450"/>
            <a:ext cx="5734050" cy="3003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519920"/>
            <a:ext cx="7200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76">
                <a:solidFill>
                  <a:srgbClr val="000000"/>
                </a:solidFill>
                <a:latin typeface="Roboto"/>
              </a:rPr>
              <a:t>ANSWER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33450"/>
            <a:ext cx="5734050" cy="3975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4978400"/>
            <a:ext cx="645795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3450"/>
            <a:ext cx="14147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8">
                <a:solidFill>
                  <a:srgbClr val="000000"/>
                </a:solidFill>
                <a:latin typeface="Roboto"/>
              </a:rPr>
              <a:t>Source Port</a:t>
            </a:r>
            <a:r>
              <a:rPr sz="1200" spc="10">
                <a:solidFill>
                  <a:srgbClr val="000000"/>
                </a:solidFill>
                <a:latin typeface="Roboto"/>
              </a:rPr>
              <a:t>: 56162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35380"/>
            <a:ext cx="16510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5">
                <a:solidFill>
                  <a:srgbClr val="000000"/>
                </a:solidFill>
                <a:latin typeface="Roboto"/>
              </a:rPr>
              <a:t>Destination Port:</a:t>
            </a:r>
            <a:r>
              <a:rPr sz="1200" spc="6">
                <a:solidFill>
                  <a:srgbClr val="000000"/>
                </a:solidFill>
                <a:latin typeface="Roboto"/>
              </a:rPr>
              <a:t> 3306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7310"/>
            <a:ext cx="20574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1">
                <a:solidFill>
                  <a:srgbClr val="000000"/>
                </a:solidFill>
                <a:latin typeface="Roboto"/>
              </a:rPr>
              <a:t>FTP Destination Port</a:t>
            </a:r>
            <a:r>
              <a:rPr sz="1200" spc="8">
                <a:solidFill>
                  <a:srgbClr val="000000"/>
                </a:solidFill>
                <a:latin typeface="Roboto"/>
              </a:rPr>
              <a:t>: 62014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37970"/>
            <a:ext cx="22098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6">
                <a:solidFill>
                  <a:srgbClr val="000000"/>
                </a:solidFill>
                <a:latin typeface="Roboto"/>
              </a:rPr>
              <a:t>MySQL Destination Port</a:t>
            </a:r>
            <a:r>
              <a:rPr sz="1200" spc="12">
                <a:solidFill>
                  <a:srgbClr val="000000"/>
                </a:solidFill>
                <a:latin typeface="Roboto"/>
              </a:rPr>
              <a:t>: 3306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9900"/>
            <a:ext cx="262509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3">
                <a:solidFill>
                  <a:srgbClr val="000000"/>
                </a:solidFill>
                <a:latin typeface="Roboto"/>
              </a:rPr>
              <a:t>Are the Destination Ports the same?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41830"/>
            <a:ext cx="150495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3">
                <a:solidFill>
                  <a:srgbClr val="000000"/>
                </a:solidFill>
                <a:latin typeface="Roboto"/>
              </a:rPr>
              <a:t>No, they are different.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2490"/>
            <a:ext cx="516636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5">
                <a:solidFill>
                  <a:srgbClr val="000000"/>
                </a:solidFill>
                <a:latin typeface="Roboto"/>
              </a:rPr>
              <a:t>How does the OS know which application should receive each packet?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44420"/>
            <a:ext cx="553466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0">
                <a:solidFill>
                  <a:srgbClr val="000000"/>
                </a:solidFill>
                <a:latin typeface="Roboto"/>
              </a:rPr>
              <a:t>The OS uses the TCP 4-tuple (Source IP, Source Port, Destination IP, Destination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6350"/>
            <a:ext cx="542163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2">
                <a:solidFill>
                  <a:srgbClr val="000000"/>
                </a:solidFill>
                <a:latin typeface="Roboto"/>
              </a:rPr>
              <a:t>Port) to identify the correct TCP connection and deliver the packet to the correct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7010"/>
            <a:ext cx="279527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5">
                <a:solidFill>
                  <a:srgbClr val="000000"/>
                </a:solidFill>
                <a:latin typeface="Roboto"/>
              </a:rPr>
              <a:t>application. This is called demultiplexing.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3410"/>
            <a:ext cx="3544570" cy="177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400" b="1" u="sng" spc="56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Roboto"/>
              </a:rPr>
              <a:t>Challenge Set 3: TCP vs UDP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5820"/>
            <a:ext cx="295147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1">
                <a:solidFill>
                  <a:srgbClr val="000000"/>
                </a:solidFill>
                <a:latin typeface="Roboto"/>
              </a:rPr>
              <a:t>Samples to use: DNS (UDP) + FTP (TCP</a:t>
            </a:r>
            <a:r>
              <a:rPr sz="1200" spc="12">
                <a:solidFill>
                  <a:srgbClr val="000000"/>
                </a:solidFill>
                <a:latin typeface="Roboto"/>
              </a:rPr>
              <a:t>)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87750"/>
            <a:ext cx="530987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5">
                <a:solidFill>
                  <a:srgbClr val="000000"/>
                </a:solidFill>
                <a:latin typeface="Roboto"/>
              </a:rPr>
              <a:t>7</a:t>
            </a:r>
            <a:r>
              <a:rPr sz="1200" b="1" spc="40">
                <a:solidFill>
                  <a:srgbClr val="000000"/>
                </a:solidFill>
                <a:latin typeface="Roboto"/>
              </a:rPr>
              <a:t>. Place the DNS and FTP samples side-by-side (open one after another</a:t>
            </a:r>
            <a:r>
              <a:rPr sz="1200" spc="12">
                <a:solidFill>
                  <a:srgbClr val="000000"/>
                </a:solidFill>
                <a:latin typeface="Roboto"/>
              </a:rPr>
              <a:t>).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88410"/>
            <a:ext cx="262636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7">
                <a:solidFill>
                  <a:srgbClr val="000000"/>
                </a:solidFill>
                <a:latin typeface="Roboto"/>
              </a:rPr>
              <a:t>o Which protocol has a larger header?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90340"/>
            <a:ext cx="554863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1">
                <a:solidFill>
                  <a:srgbClr val="000000"/>
                </a:solidFill>
                <a:latin typeface="Roboto"/>
              </a:rPr>
              <a:t>o Which protocol provides reliability features (sequence numbers, flags, window)?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92270"/>
            <a:ext cx="50825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0">
                <a:solidFill>
                  <a:srgbClr val="000000"/>
                </a:solidFill>
                <a:latin typeface="Roboto"/>
              </a:rPr>
              <a:t>o Which protocol is connection-oriented and which is connectionless? Give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92930"/>
            <a:ext cx="69469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0">
                <a:solidFill>
                  <a:srgbClr val="000000"/>
                </a:solidFill>
                <a:latin typeface="Roboto"/>
              </a:rPr>
              <a:t>evidence.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96790"/>
            <a:ext cx="7200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76">
                <a:solidFill>
                  <a:srgbClr val="000000"/>
                </a:solidFill>
                <a:latin typeface="Roboto"/>
              </a:rPr>
              <a:t>ANSWER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99380"/>
            <a:ext cx="249936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6">
                <a:solidFill>
                  <a:srgbClr val="000000"/>
                </a:solidFill>
                <a:latin typeface="Roboto"/>
              </a:rPr>
              <a:t>Which protocol has a larger header?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01310"/>
            <a:ext cx="295529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6">
                <a:solidFill>
                  <a:srgbClr val="000000"/>
                </a:solidFill>
                <a:latin typeface="Roboto"/>
              </a:rPr>
              <a:t>TCP — minimum 20 bytes. UDP is 8 bytes.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03240"/>
            <a:ext cx="298196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3">
                <a:solidFill>
                  <a:srgbClr val="000000"/>
                </a:solidFill>
                <a:latin typeface="Roboto"/>
              </a:rPr>
              <a:t>Which protocol provides reliability features?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3900"/>
            <a:ext cx="557403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1">
                <a:solidFill>
                  <a:srgbClr val="000000"/>
                </a:solidFill>
                <a:latin typeface="Roboto"/>
              </a:rPr>
              <a:t>TCP — it uses Sequence Number, Acknowledgement Number, Flags and Window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005830"/>
            <a:ext cx="3810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25">
                <a:solidFill>
                  <a:srgbClr val="000000"/>
                </a:solidFill>
                <a:latin typeface="Roboto"/>
              </a:rPr>
              <a:t>Size.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207760"/>
            <a:ext cx="45999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3">
                <a:solidFill>
                  <a:srgbClr val="000000"/>
                </a:solidFill>
                <a:latin typeface="Roboto"/>
              </a:rPr>
              <a:t>Which protocol is connection-oriented and which is connectionless?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408420"/>
            <a:ext cx="195707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0">
                <a:solidFill>
                  <a:srgbClr val="000000"/>
                </a:solidFill>
                <a:latin typeface="Roboto"/>
              </a:rPr>
              <a:t>TCP → Connection-oriented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610350"/>
            <a:ext cx="16433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3">
                <a:solidFill>
                  <a:srgbClr val="000000"/>
                </a:solidFill>
                <a:latin typeface="Roboto"/>
              </a:rPr>
              <a:t>UDP → Connectionless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812280"/>
            <a:ext cx="7112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21">
                <a:solidFill>
                  <a:srgbClr val="000000"/>
                </a:solidFill>
                <a:latin typeface="Roboto"/>
              </a:rPr>
              <a:t>Evidence: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7012940"/>
            <a:ext cx="557276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5">
                <a:solidFill>
                  <a:srgbClr val="000000"/>
                </a:solidFill>
                <a:latin typeface="Roboto"/>
              </a:rPr>
              <a:t>FTP/TCP screenshot shows Sequence Number, ACK Number, Flags (PSH, ACK),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7214870"/>
            <a:ext cx="54635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1">
                <a:solidFill>
                  <a:srgbClr val="000000"/>
                </a:solidFill>
                <a:latin typeface="Roboto"/>
              </a:rPr>
              <a:t>and Window Size. DNS/UDP has only Source Port, Destination Port, Length and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7416800"/>
            <a:ext cx="8051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7">
                <a:solidFill>
                  <a:srgbClr val="000000"/>
                </a:solidFill>
                <a:latin typeface="Roboto"/>
              </a:rPr>
              <a:t>Checksum.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7819390"/>
            <a:ext cx="18034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36">
                <a:solidFill>
                  <a:srgbClr val="000000"/>
                </a:solidFill>
                <a:latin typeface="Roboto"/>
              </a:rPr>
              <a:t>8. From the FTP sample</a:t>
            </a:r>
            <a:r>
              <a:rPr sz="1200" spc="35">
                <a:solidFill>
                  <a:srgbClr val="000000"/>
                </a:solidFill>
                <a:latin typeface="Roboto"/>
              </a:rPr>
              <a:t>: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8021320"/>
            <a:ext cx="555371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">
                <a:solidFill>
                  <a:srgbClr val="000000"/>
                </a:solidFill>
                <a:latin typeface="Roboto"/>
              </a:rPr>
              <a:t>o Point out any fields that show TCP’s duty of providing reliability and flow control.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8271509"/>
            <a:ext cx="7200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76">
                <a:solidFill>
                  <a:srgbClr val="000000"/>
                </a:solidFill>
                <a:latin typeface="Roboto"/>
              </a:rPr>
              <a:t>ANSWER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472170"/>
            <a:ext cx="253237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4">
                <a:solidFill>
                  <a:srgbClr val="000000"/>
                </a:solidFill>
                <a:latin typeface="Roboto"/>
              </a:rPr>
              <a:t>TCP reliability and flow control fields: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74100"/>
            <a:ext cx="45999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4">
                <a:solidFill>
                  <a:srgbClr val="000000"/>
                </a:solidFill>
                <a:latin typeface="Roboto"/>
              </a:rPr>
              <a:t>Sequence Number → ensures data is delivered in the correct order.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876030"/>
            <a:ext cx="46507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-1">
                <a:solidFill>
                  <a:srgbClr val="000000"/>
                </a:solidFill>
                <a:latin typeface="Roboto"/>
              </a:rPr>
              <a:t>Acknowledgement Number → confirms that data has been received.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076690"/>
            <a:ext cx="558292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1">
                <a:solidFill>
                  <a:srgbClr val="000000"/>
                </a:solidFill>
                <a:latin typeface="Roboto"/>
              </a:rPr>
              <a:t>Window Size: 1448 → provides flow control, telling the sender how much data can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278620"/>
            <a:ext cx="5842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7">
                <a:solidFill>
                  <a:srgbClr val="000000"/>
                </a:solidFill>
                <a:latin typeface="Roboto"/>
              </a:rPr>
              <a:t>be sent.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480550"/>
            <a:ext cx="387985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0">
                <a:solidFill>
                  <a:srgbClr val="000000"/>
                </a:solidFill>
                <a:latin typeface="Roboto"/>
              </a:rPr>
              <a:t>ACK flag → indicates acknowledgement of received data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33450"/>
            <a:ext cx="5734050" cy="3003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4006850"/>
            <a:ext cx="573405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8530"/>
            <a:ext cx="3206750" cy="1905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500" b="1" spc="51">
                <a:solidFill>
                  <a:srgbClr val="000000"/>
                </a:solidFill>
                <a:latin typeface="Roboto"/>
              </a:rPr>
              <a:t>Challenge Set 4: Modern Transport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6180"/>
            <a:ext cx="15074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50">
                <a:solidFill>
                  <a:srgbClr val="000000"/>
                </a:solidFill>
                <a:latin typeface="Roboto"/>
              </a:rPr>
              <a:t>Sample to use: QUIC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86840"/>
            <a:ext cx="18376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21">
                <a:solidFill>
                  <a:srgbClr val="000000"/>
                </a:solidFill>
                <a:latin typeface="Roboto"/>
              </a:rPr>
              <a:t>9. Open the QUIC sample.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88770"/>
            <a:ext cx="476250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3">
                <a:solidFill>
                  <a:srgbClr val="000000"/>
                </a:solidFill>
                <a:latin typeface="Roboto"/>
              </a:rPr>
              <a:t>o Which underlying Transport protocol is QUIC using? (Look carefully)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90700"/>
            <a:ext cx="214376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4">
                <a:solidFill>
                  <a:srgbClr val="000000"/>
                </a:solidFill>
                <a:latin typeface="Roboto"/>
              </a:rPr>
              <a:t>o What is the Destination Port?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1360"/>
            <a:ext cx="496062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8">
                <a:solidFill>
                  <a:srgbClr val="000000"/>
                </a:solidFill>
                <a:latin typeface="Roboto"/>
              </a:rPr>
              <a:t>o How is QUIC different from classic TCP even though it runs over UDP?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958330"/>
            <a:ext cx="7200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76">
                <a:solidFill>
                  <a:srgbClr val="000000"/>
                </a:solidFill>
                <a:latin typeface="Roboto"/>
              </a:rPr>
              <a:t>ANSWER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7160259"/>
            <a:ext cx="265049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6">
                <a:solidFill>
                  <a:srgbClr val="000000"/>
                </a:solidFill>
                <a:latin typeface="Roboto"/>
              </a:rPr>
              <a:t>Underlying Transport Protocol</a:t>
            </a:r>
            <a:r>
              <a:rPr sz="1200" spc="55">
                <a:solidFill>
                  <a:srgbClr val="000000"/>
                </a:solidFill>
                <a:latin typeface="Roboto"/>
              </a:rPr>
              <a:t>: UDP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7362190"/>
            <a:ext cx="155828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41">
                <a:solidFill>
                  <a:srgbClr val="000000"/>
                </a:solidFill>
                <a:latin typeface="Roboto"/>
              </a:rPr>
              <a:t>Destination Port</a:t>
            </a:r>
            <a:r>
              <a:rPr sz="1200" spc="15">
                <a:solidFill>
                  <a:srgbClr val="000000"/>
                </a:solidFill>
                <a:latin typeface="Roboto"/>
              </a:rPr>
              <a:t>: 443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7562850"/>
            <a:ext cx="75438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59">
                <a:solidFill>
                  <a:srgbClr val="000000"/>
                </a:solidFill>
                <a:latin typeface="Roboto"/>
              </a:rPr>
              <a:t>Evidence</a:t>
            </a:r>
            <a:r>
              <a:rPr sz="1200" spc="40">
                <a:solidFill>
                  <a:srgbClr val="000000"/>
                </a:solidFill>
                <a:latin typeface="Roboto"/>
              </a:rPr>
              <a:t>: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7764780"/>
            <a:ext cx="523494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5">
                <a:solidFill>
                  <a:srgbClr val="000000"/>
                </a:solidFill>
                <a:latin typeface="Roboto"/>
              </a:rPr>
              <a:t> The screenshot shows “Next Header: UDP (17)” and “Destination Port: 443.”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7966709"/>
            <a:ext cx="210947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b="1" spc="36">
                <a:solidFill>
                  <a:srgbClr val="000000"/>
                </a:solidFill>
                <a:latin typeface="Roboto"/>
              </a:rPr>
              <a:t>Difference from classic TCP</a:t>
            </a:r>
            <a:r>
              <a:rPr sz="1200" spc="40">
                <a:solidFill>
                  <a:srgbClr val="000000"/>
                </a:solidFill>
                <a:latin typeface="Roboto"/>
              </a:rPr>
              <a:t>: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8168640"/>
            <a:ext cx="5519420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4">
                <a:solidFill>
                  <a:srgbClr val="000000"/>
                </a:solidFill>
                <a:latin typeface="Roboto"/>
              </a:rPr>
              <a:t> QUIC runs over UDP but provides reliability, flow control, congestion control, and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8369300"/>
            <a:ext cx="2405379" cy="1524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r>
              <a:rPr sz="1200" spc="4">
                <a:solidFill>
                  <a:srgbClr val="000000"/>
                </a:solidFill>
                <a:latin typeface="Roboto"/>
              </a:rPr>
              <a:t>multiple streams at the QUIC layer.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2190750"/>
            <a:ext cx="5734050" cy="4489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1057</Words>
  <Application>Microsoft Office PowerPoint</Application>
  <PresentationFormat>Custom</PresentationFormat>
  <Paragraphs>141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Abinayashree K</dc:creator>
  <cp:keywords/>
  <dc:description>generated using python-pptx</dc:description>
  <cp:lastModifiedBy>Abinayashree K</cp:lastModifiedBy>
  <cp:revision>2</cp:revision>
  <dcterms:created xsi:type="dcterms:W3CDTF">2013-01-27T09:14:16Z</dcterms:created>
  <dcterms:modified xsi:type="dcterms:W3CDTF">2026-08-23T14:31:28Z</dcterms:modified>
  <cp:category/>
</cp:coreProperties>
</file>